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E40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788920"/>
            <a:ext cx="12191695" cy="73152"/>
          </a:xfrm>
          <a:prstGeom prst="rect">
            <a:avLst/>
          </a:prstGeom>
          <a:solidFill>
            <a:srgbClr val="048A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097280"/>
            <a:ext cx="103327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6000" b="1">
                <a:solidFill>
                  <a:srgbClr val="FFFFFF"/>
                </a:solidFill>
                <a:latin typeface="Calibri"/>
              </a:rPr>
              <a:t>🧸 КОМСЕД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71800"/>
            <a:ext cx="10332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400" b="0">
                <a:solidFill>
                  <a:srgbClr val="E6F4F3"/>
                </a:solidFill>
                <a:latin typeface="Calibri"/>
              </a:rPr>
              <a:t>Онлайн магазин за детски играчки</a:t>
            </a:r>
          </a:p>
          <a:p>
            <a:pPr algn="ctr">
              <a:spcAft>
                <a:spcPts val="600"/>
              </a:spcAft>
            </a:pPr>
            <a:r>
              <a:rPr sz="1600" b="0">
                <a:solidFill>
                  <a:srgbClr val="9FB3C8"/>
                </a:solidFill>
                <a:latin typeface="Calibri"/>
              </a:rPr>
              <a:t>Проект по Бази от данни — практикум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029200"/>
            <a:ext cx="103327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Стас Узунов · ф.н. 2MI0700362</a:t>
            </a:r>
          </a:p>
          <a:p>
            <a:pPr algn="ctr">
              <a:spcAft>
                <a:spcPts val="600"/>
              </a:spcAft>
            </a:pPr>
            <a:r>
              <a:rPr sz="1300" b="0">
                <a:solidFill>
                  <a:srgbClr val="9FB3C8"/>
                </a:solidFill>
                <a:latin typeface="Calibri"/>
              </a:rPr>
              <a:t>СУ „Св. Климент Охридски" · ФМИ · Информационни системи ·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2E40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048A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64592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FFFFFF"/>
                </a:solidFill>
                <a:latin typeface="Calibri"/>
              </a:rPr>
              <a:t>Съдържание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>
                <a:solidFill>
                  <a:srgbClr val="66707A"/>
                </a:solidFill>
                <a:latin typeface="Calibri"/>
              </a:rPr>
              <a:t>КОМСЕД  ·  Стас Узунов, 2MI0700362  ·  СУ „Св. Климент Охридски", ФМИ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38560" y="6400800"/>
            <a:ext cx="6400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spcAft>
                <a:spcPts val="600"/>
              </a:spcAft>
            </a:pPr>
            <a:r>
              <a:rPr sz="900" b="0">
                <a:solidFill>
                  <a:srgbClr val="66707A"/>
                </a:solidFill>
                <a:latin typeface="Calibri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1554480"/>
            <a:ext cx="9966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000" b="1">
                <a:solidFill>
                  <a:srgbClr val="048A81"/>
                </a:solidFill>
                <a:latin typeface="Calibri"/>
              </a:rPr>
              <a:t>1.  </a:t>
            </a:r>
            <a:r>
              <a:rPr sz="2000" b="0">
                <a:solidFill>
                  <a:srgbClr val="1F2933"/>
                </a:solidFill>
                <a:latin typeface="Calibri"/>
              </a:rPr>
              <a:t>Въведение — какво е КОМСЕД</a:t>
            </a:r>
          </a:p>
          <a:p>
            <a:pPr>
              <a:spcAft>
                <a:spcPts val="1200"/>
              </a:spcAft>
            </a:pPr>
            <a:r>
              <a:rPr sz="2000" b="1">
                <a:solidFill>
                  <a:srgbClr val="048A81"/>
                </a:solidFill>
                <a:latin typeface="Calibri"/>
              </a:rPr>
              <a:t>2.  </a:t>
            </a:r>
            <a:r>
              <a:rPr sz="2000" b="0">
                <a:solidFill>
                  <a:srgbClr val="1F2933"/>
                </a:solidFill>
                <a:latin typeface="Calibri"/>
              </a:rPr>
              <a:t>E/R модел на данните</a:t>
            </a:r>
          </a:p>
          <a:p>
            <a:pPr>
              <a:spcAft>
                <a:spcPts val="1200"/>
              </a:spcAft>
            </a:pPr>
            <a:r>
              <a:rPr sz="2000" b="1">
                <a:solidFill>
                  <a:srgbClr val="048A81"/>
                </a:solidFill>
                <a:latin typeface="Calibri"/>
              </a:rPr>
              <a:t>3.  </a:t>
            </a:r>
            <a:r>
              <a:rPr sz="2000" b="0">
                <a:solidFill>
                  <a:srgbClr val="1F2933"/>
                </a:solidFill>
                <a:latin typeface="Calibri"/>
              </a:rPr>
              <a:t>Релационен модел (8 таблици)</a:t>
            </a:r>
          </a:p>
          <a:p>
            <a:pPr>
              <a:spcAft>
                <a:spcPts val="1200"/>
              </a:spcAft>
            </a:pPr>
            <a:r>
              <a:rPr sz="2000" b="1">
                <a:solidFill>
                  <a:srgbClr val="048A81"/>
                </a:solidFill>
                <a:latin typeface="Calibri"/>
              </a:rPr>
              <a:t>4.  </a:t>
            </a:r>
            <a:r>
              <a:rPr sz="2000" b="0">
                <a:solidFill>
                  <a:srgbClr val="1F2933"/>
                </a:solidFill>
                <a:latin typeface="Calibri"/>
              </a:rPr>
              <a:t>Схема и ограничения (DDL)</a:t>
            </a:r>
          </a:p>
          <a:p>
            <a:pPr>
              <a:spcAft>
                <a:spcPts val="1200"/>
              </a:spcAft>
            </a:pPr>
            <a:r>
              <a:rPr sz="2000" b="1">
                <a:solidFill>
                  <a:srgbClr val="048A81"/>
                </a:solidFill>
                <a:latin typeface="Calibri"/>
              </a:rPr>
              <a:t>5.  </a:t>
            </a:r>
            <a:r>
              <a:rPr sz="2000" b="0">
                <a:solidFill>
                  <a:srgbClr val="1F2933"/>
                </a:solidFill>
                <a:latin typeface="Calibri"/>
              </a:rPr>
              <a:t>Приложение за достъп (Flask + DB2)</a:t>
            </a:r>
          </a:p>
          <a:p>
            <a:pPr>
              <a:spcAft>
                <a:spcPts val="1200"/>
              </a:spcAft>
            </a:pPr>
            <a:r>
              <a:rPr sz="2000" b="1">
                <a:solidFill>
                  <a:srgbClr val="048A81"/>
                </a:solidFill>
                <a:latin typeface="Calibri"/>
              </a:rPr>
              <a:t>6.  </a:t>
            </a:r>
            <a:r>
              <a:rPr sz="2000" b="0">
                <a:solidFill>
                  <a:srgbClr val="1F2933"/>
                </a:solidFill>
                <a:latin typeface="Calibri"/>
              </a:rPr>
              <a:t>Production версия (Next.js + Neon + Vercel)</a:t>
            </a:r>
          </a:p>
          <a:p>
            <a:pPr>
              <a:spcAft>
                <a:spcPts val="1200"/>
              </a:spcAft>
            </a:pPr>
            <a:r>
              <a:rPr sz="2000" b="1">
                <a:solidFill>
                  <a:srgbClr val="048A81"/>
                </a:solidFill>
                <a:latin typeface="Calibri"/>
              </a:rPr>
              <a:t>7.  </a:t>
            </a:r>
            <a:r>
              <a:rPr sz="2000" b="0">
                <a:solidFill>
                  <a:srgbClr val="1F2933"/>
                </a:solidFill>
                <a:latin typeface="Calibri"/>
              </a:rPr>
              <a:t>Примерни SQL заявки и резултати</a:t>
            </a:r>
          </a:p>
          <a:p>
            <a:pPr>
              <a:spcAft>
                <a:spcPts val="1200"/>
              </a:spcAft>
            </a:pPr>
            <a:r>
              <a:rPr sz="2000" b="1">
                <a:solidFill>
                  <a:srgbClr val="048A81"/>
                </a:solidFill>
                <a:latin typeface="Calibri"/>
              </a:rPr>
              <a:t>8.  </a:t>
            </a:r>
            <a:r>
              <a:rPr sz="2000" b="0">
                <a:solidFill>
                  <a:srgbClr val="1F2933"/>
                </a:solidFill>
                <a:latin typeface="Calibri"/>
              </a:rPr>
              <a:t>Заключение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2E40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048A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64592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048A81"/>
                </a:solidFill>
                <a:latin typeface="Calibri"/>
              </a:rPr>
              <a:t>ТЕМА НА ПРОЕКТА</a:t>
            </a:r>
          </a:p>
          <a:p>
            <a:pPr algn="l">
              <a:spcAft>
                <a:spcPts val="600"/>
              </a:spcAft>
            </a:pPr>
            <a:r>
              <a:rPr sz="2800" b="1">
                <a:solidFill>
                  <a:srgbClr val="FFFFFF"/>
                </a:solidFill>
                <a:latin typeface="Calibri"/>
              </a:rPr>
              <a:t>Въведение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>
                <a:solidFill>
                  <a:srgbClr val="66707A"/>
                </a:solidFill>
                <a:latin typeface="Calibri"/>
              </a:rPr>
              <a:t>КОМСЕД  ·  Стас Узунов, 2MI0700362  ·  СУ „Св. Климент Охридски", ФМИ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38560" y="6400800"/>
            <a:ext cx="6400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spcAft>
                <a:spcPts val="600"/>
              </a:spcAft>
            </a:pPr>
            <a:r>
              <a:rPr sz="900" b="0">
                <a:solidFill>
                  <a:srgbClr val="66707A"/>
                </a:solidFill>
                <a:latin typeface="Calibri"/>
              </a:rPr>
              <a:t>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63040"/>
            <a:ext cx="67665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</a:pPr>
            <a:r>
              <a:rPr sz="1600" b="1">
                <a:solidFill>
                  <a:srgbClr val="1F2933"/>
                </a:solidFill>
                <a:latin typeface="Calibri"/>
              </a:rPr>
              <a:t>КОМСЕД е онлайн магазин за детски играчки и бебешки аксесоари.</a:t>
            </a:r>
          </a:p>
          <a:p>
            <a:pPr algn="l">
              <a:spcAft>
                <a:spcPts val="1400"/>
              </a:spcAft>
            </a:pPr>
            <a:r>
              <a:rPr sz="1400" b="0">
                <a:solidFill>
                  <a:srgbClr val="1F2933"/>
                </a:solidFill>
                <a:latin typeface="Calibri"/>
              </a:rPr>
              <a:t>Проектът реализира релационна база от данни и уеб приложение за достъп до нея.</a:t>
            </a:r>
          </a:p>
          <a:p>
            <a:pPr algn="l">
              <a:spcAft>
                <a:spcPts val="800"/>
              </a:spcAft>
            </a:pPr>
            <a:r>
              <a:rPr sz="1400" b="1">
                <a:solidFill>
                  <a:srgbClr val="2E4057"/>
                </a:solidFill>
                <a:latin typeface="Calibri"/>
              </a:rPr>
              <a:t>Цели: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1F2933"/>
                </a:solidFill>
                <a:latin typeface="Calibri"/>
              </a:rPr>
              <a:t>•  Проектиране на E/R и релационен модел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1F2933"/>
                </a:solidFill>
                <a:latin typeface="Calibri"/>
              </a:rPr>
              <a:t>•  Имплементация на схема с интегритетни ограничения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1F2933"/>
                </a:solidFill>
                <a:latin typeface="Calibri"/>
              </a:rPr>
              <a:t>•  CRUD операции и аналитични SQL заявки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1F2933"/>
                </a:solidFill>
                <a:latin typeface="Calibri"/>
              </a:rPr>
              <a:t>•  Уеб интерфейс за управление на магазина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0" y="1554480"/>
            <a:ext cx="1783080" cy="1325880"/>
          </a:xfrm>
          <a:prstGeom prst="roundRect">
            <a:avLst/>
          </a:prstGeom>
          <a:solidFill>
            <a:srgbClr val="E6F4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0"/>
              </a:spcAft>
            </a:pPr>
            <a:r>
              <a:rPr sz="3200" b="1">
                <a:solidFill>
                  <a:srgbClr val="048A81"/>
                </a:solidFill>
                <a:latin typeface="Calibri"/>
              </a:rPr>
              <a:t>8</a:t>
            </a:r>
          </a:p>
          <a:p>
            <a:pPr algn="ctr">
              <a:spcAft>
                <a:spcPts val="600"/>
              </a:spcAft>
            </a:pPr>
            <a:r>
              <a:rPr sz="1200" b="0">
                <a:solidFill>
                  <a:srgbClr val="66707A"/>
                </a:solidFill>
                <a:latin typeface="Calibri"/>
              </a:rPr>
              <a:t>таблици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738360" y="1554480"/>
            <a:ext cx="1783080" cy="1325880"/>
          </a:xfrm>
          <a:prstGeom prst="roundRect">
            <a:avLst/>
          </a:prstGeom>
          <a:solidFill>
            <a:srgbClr val="E6F4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0"/>
              </a:spcAft>
            </a:pPr>
            <a:r>
              <a:rPr sz="3200" b="1">
                <a:solidFill>
                  <a:srgbClr val="048A81"/>
                </a:solidFill>
                <a:latin typeface="Calibri"/>
              </a:rPr>
              <a:t>6</a:t>
            </a:r>
          </a:p>
          <a:p>
            <a:pPr algn="ctr">
              <a:spcAft>
                <a:spcPts val="600"/>
              </a:spcAft>
            </a:pPr>
            <a:r>
              <a:rPr sz="1200" b="0">
                <a:solidFill>
                  <a:srgbClr val="66707A"/>
                </a:solidFill>
                <a:latin typeface="Calibri"/>
              </a:rPr>
              <a:t>същности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72400" y="3108960"/>
            <a:ext cx="1783080" cy="1325880"/>
          </a:xfrm>
          <a:prstGeom prst="roundRect">
            <a:avLst/>
          </a:prstGeom>
          <a:solidFill>
            <a:srgbClr val="E6F4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0"/>
              </a:spcAft>
            </a:pPr>
            <a:r>
              <a:rPr sz="3200" b="1">
                <a:solidFill>
                  <a:srgbClr val="048A81"/>
                </a:solidFill>
                <a:latin typeface="Calibri"/>
              </a:rPr>
              <a:t>6</a:t>
            </a:r>
          </a:p>
          <a:p>
            <a:pPr algn="ctr">
              <a:spcAft>
                <a:spcPts val="600"/>
              </a:spcAft>
            </a:pPr>
            <a:r>
              <a:rPr sz="1200" b="0">
                <a:solidFill>
                  <a:srgbClr val="66707A"/>
                </a:solidFill>
                <a:latin typeface="Calibri"/>
              </a:rPr>
              <a:t>SQL заявки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738360" y="3108960"/>
            <a:ext cx="1783080" cy="1325880"/>
          </a:xfrm>
          <a:prstGeom prst="roundRect">
            <a:avLst/>
          </a:prstGeom>
          <a:solidFill>
            <a:srgbClr val="E6F4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0"/>
              </a:spcAft>
            </a:pPr>
            <a:r>
              <a:rPr sz="3200" b="1">
                <a:solidFill>
                  <a:srgbClr val="048A81"/>
                </a:solidFill>
                <a:latin typeface="Calibri"/>
              </a:rPr>
              <a:t>12</a:t>
            </a:r>
          </a:p>
          <a:p>
            <a:pPr algn="ctr">
              <a:spcAft>
                <a:spcPts val="600"/>
              </a:spcAft>
            </a:pPr>
            <a:r>
              <a:rPr sz="1200" b="0">
                <a:solidFill>
                  <a:srgbClr val="66707A"/>
                </a:solidFill>
                <a:latin typeface="Calibri"/>
              </a:rPr>
              <a:t>продукта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2E40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048A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64592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048A81"/>
                </a:solidFill>
                <a:latin typeface="Calibri"/>
              </a:rPr>
              <a:t>КОНЦЕПТУАЛЕН МОДЕЛ</a:t>
            </a:r>
          </a:p>
          <a:p>
            <a:pPr algn="l">
              <a:spcAft>
                <a:spcPts val="600"/>
              </a:spcAft>
            </a:pPr>
            <a:r>
              <a:rPr sz="2800" b="1">
                <a:solidFill>
                  <a:srgbClr val="FFFFFF"/>
                </a:solidFill>
                <a:latin typeface="Calibri"/>
              </a:rPr>
              <a:t>E/R модел на данните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>
                <a:solidFill>
                  <a:srgbClr val="66707A"/>
                </a:solidFill>
                <a:latin typeface="Calibri"/>
              </a:rPr>
              <a:t>КОМСЕД  ·  Стас Узунов, 2MI0700362  ·  СУ „Св. Климент Охридски", ФМИ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38560" y="6400800"/>
            <a:ext cx="6400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spcAft>
                <a:spcPts val="600"/>
              </a:spcAft>
            </a:pPr>
            <a:r>
              <a:rPr sz="900" b="0">
                <a:solidFill>
                  <a:srgbClr val="66707A"/>
                </a:solidFill>
                <a:latin typeface="Calibri"/>
              </a:rPr>
              <a:t>4</a:t>
            </a:r>
          </a:p>
        </p:txBody>
      </p:sp>
      <p:pic>
        <p:nvPicPr>
          <p:cNvPr id="8" name="Picture 7" descr="er_diagram_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93375" y="1325880"/>
            <a:ext cx="9174769" cy="452628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48640" y="5943600"/>
            <a:ext cx="11064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200" b="0">
                <a:solidFill>
                  <a:srgbClr val="66707A"/>
                </a:solidFill>
                <a:latin typeface="Calibri"/>
              </a:rPr>
              <a:t>6 същности · връзки: buy (1:N), issue (1:N), for (N:1), belongs (M:N), has (M:N), sub (1:N)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2E40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048A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64592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048A81"/>
                </a:solidFill>
                <a:latin typeface="Calibri"/>
              </a:rPr>
              <a:t>8 ТАБЛИЦИ</a:t>
            </a:r>
          </a:p>
          <a:p>
            <a:pPr algn="l">
              <a:spcAft>
                <a:spcPts val="600"/>
              </a:spcAft>
            </a:pPr>
            <a:r>
              <a:rPr sz="2800" b="1">
                <a:solidFill>
                  <a:srgbClr val="FFFFFF"/>
                </a:solidFill>
                <a:latin typeface="Calibri"/>
              </a:rPr>
              <a:t>Релационен модел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>
                <a:solidFill>
                  <a:srgbClr val="66707A"/>
                </a:solidFill>
                <a:latin typeface="Calibri"/>
              </a:rPr>
              <a:t>КОМСЕД  ·  Стас Узунов, 2MI0700362  ·  СУ „Св. Климент Охридски", ФМИ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38560" y="6400800"/>
            <a:ext cx="6400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spcAft>
                <a:spcPts val="600"/>
              </a:spcAft>
            </a:pPr>
            <a:r>
              <a:rPr sz="900" b="0">
                <a:solidFill>
                  <a:srgbClr val="66707A"/>
                </a:solidFill>
                <a:latin typeface="Calibri"/>
              </a:rPr>
              <a:t>5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48640" y="1371600"/>
          <a:ext cx="11064240" cy="4754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26080"/>
                <a:gridCol w="8138160"/>
              </a:tblGrid>
              <a:tr h="52832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Таблица</a:t>
                      </a:r>
                    </a:p>
                  </a:txBody>
                  <a:tcPr>
                    <a:solidFill>
                      <a:srgbClr val="2E405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Атрибути</a:t>
                      </a:r>
                    </a:p>
                  </a:txBody>
                  <a:tcPr>
                    <a:solidFill>
                      <a:srgbClr val="2E4057"/>
                    </a:solidFill>
                  </a:tcPr>
                </a:tc>
              </a:tr>
              <a:tr h="52832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048A81"/>
                          </a:solidFill>
                        </a:rPr>
                        <a:t>CATEGORY</a:t>
                      </a:r>
                    </a:p>
                  </a:txBody>
                  <a:tcPr>
                    <a:solidFill>
                      <a:srgbClr val="E6F4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F2933"/>
                          </a:solidFill>
                        </a:rPr>
                        <a:t>category_id (PK), name, slug (UQ), parent_id (FK), description, is_active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2832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048A81"/>
                          </a:solidFill>
                        </a:rPr>
                        <a:t>PRODUCT</a:t>
                      </a:r>
                    </a:p>
                  </a:txBody>
                  <a:tcPr>
                    <a:solidFill>
                      <a:srgbClr val="E6F4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F2933"/>
                          </a:solidFill>
                        </a:rPr>
                        <a:t>product_id (PK), name, sku (UQ), price, promo_price, qty_in_stock, brand_id, is_active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2832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048A81"/>
                          </a:solidFill>
                        </a:rPr>
                        <a:t>CUSTOMER</a:t>
                      </a:r>
                    </a:p>
                  </a:txBody>
                  <a:tcPr>
                    <a:solidFill>
                      <a:srgbClr val="E6F4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F2933"/>
                          </a:solidFill>
                        </a:rPr>
                        <a:t>customer_id (PK), first_name, last_name, email (UQ), phone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2832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048A81"/>
                          </a:solidFill>
                        </a:rPr>
                        <a:t>ORDERS</a:t>
                      </a:r>
                    </a:p>
                  </a:txBody>
                  <a:tcPr>
                    <a:solidFill>
                      <a:srgbClr val="E6F4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F2933"/>
                          </a:solidFill>
                        </a:rPr>
                        <a:t>order_id (PK), status, total, payment_method, delivery_method, created_at, customer_id (FK)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2832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048A81"/>
                          </a:solidFill>
                        </a:rPr>
                        <a:t>ORDER_ITEM</a:t>
                      </a:r>
                    </a:p>
                  </a:txBody>
                  <a:tcPr>
                    <a:solidFill>
                      <a:srgbClr val="E6F4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F2933"/>
                          </a:solidFill>
                        </a:rPr>
                        <a:t>order_item_id (PK), quantity, unit_price, promo_price, order_id (FK), product_id (FK)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2832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048A81"/>
                          </a:solidFill>
                        </a:rPr>
                        <a:t>PROMOTION</a:t>
                      </a:r>
                    </a:p>
                  </a:txBody>
                  <a:tcPr>
                    <a:solidFill>
                      <a:srgbClr val="E6F4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F2933"/>
                          </a:solidFill>
                        </a:rPr>
                        <a:t>promotion_id (PK), name, discount_pct, start_date, end_date, is_active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2832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048A81"/>
                          </a:solidFill>
                        </a:rPr>
                        <a:t>PRODUCT_CATEGORY</a:t>
                      </a:r>
                    </a:p>
                  </a:txBody>
                  <a:tcPr>
                    <a:solidFill>
                      <a:srgbClr val="E6F4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F2933"/>
                          </a:solidFill>
                        </a:rPr>
                        <a:t>product_id (FK), category_id (FK)  —  M:N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2832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048A81"/>
                          </a:solidFill>
                        </a:rPr>
                        <a:t>PRODUCT_PROMOTION</a:t>
                      </a:r>
                    </a:p>
                  </a:txBody>
                  <a:tcPr>
                    <a:solidFill>
                      <a:srgbClr val="E6F4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F2933"/>
                          </a:solidFill>
                        </a:rPr>
                        <a:t>product_id (FK), promotion_id (FK)  —  M:N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2E40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048A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64592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048A81"/>
                </a:solidFill>
                <a:latin typeface="Calibri"/>
              </a:rPr>
              <a:t>DDL · ИНТЕГРИТЕТ НА ДАННИТЕ</a:t>
            </a:r>
          </a:p>
          <a:p>
            <a:pPr algn="l">
              <a:spcAft>
                <a:spcPts val="600"/>
              </a:spcAft>
            </a:pPr>
            <a:r>
              <a:rPr sz="2800" b="1">
                <a:solidFill>
                  <a:srgbClr val="FFFFFF"/>
                </a:solidFill>
                <a:latin typeface="Calibri"/>
              </a:rPr>
              <a:t>Схема на базата данни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>
                <a:solidFill>
                  <a:srgbClr val="66707A"/>
                </a:solidFill>
                <a:latin typeface="Calibri"/>
              </a:rPr>
              <a:t>КОМСЕД  ·  Стас Узунов, 2MI0700362  ·  СУ „Св. Климент Охридски", ФМИ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38560" y="6400800"/>
            <a:ext cx="6400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spcAft>
                <a:spcPts val="600"/>
              </a:spcAft>
            </a:pPr>
            <a:r>
              <a:rPr sz="900" b="0">
                <a:solidFill>
                  <a:srgbClr val="66707A"/>
                </a:solidFill>
                <a:latin typeface="Calibri"/>
              </a:rPr>
              <a:t>6</a:t>
            </a:r>
          </a:p>
        </p:txBody>
      </p:sp>
      <p:pic>
        <p:nvPicPr>
          <p:cNvPr id="8" name="Picture 7" descr="schema_diagram_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6575" y="1371600"/>
            <a:ext cx="6685009" cy="493776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955279" y="1417320"/>
            <a:ext cx="3840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400" b="1">
                <a:solidFill>
                  <a:srgbClr val="2E4057"/>
                </a:solidFill>
                <a:latin typeface="Calibri"/>
              </a:rPr>
              <a:t>Ограничения:</a:t>
            </a:r>
          </a:p>
          <a:p>
            <a:pPr algn="l">
              <a:spcAft>
                <a:spcPts val="800"/>
              </a:spcAft>
            </a:pPr>
            <a:r>
              <a:rPr sz="1200" b="0">
                <a:solidFill>
                  <a:srgbClr val="1F2933"/>
                </a:solidFill>
                <a:latin typeface="Calibri"/>
              </a:rPr>
              <a:t>•  PK — IDENTITY за всяка таблица</a:t>
            </a:r>
          </a:p>
          <a:p>
            <a:pPr algn="l">
              <a:spcAft>
                <a:spcPts val="800"/>
              </a:spcAft>
            </a:pPr>
            <a:r>
              <a:rPr sz="1200" b="0">
                <a:solidFill>
                  <a:srgbClr val="1F2933"/>
                </a:solidFill>
                <a:latin typeface="Calibri"/>
              </a:rPr>
              <a:t>•  FK — ON DELETE CASCADE / RESTRICT / SET NULL</a:t>
            </a:r>
          </a:p>
          <a:p>
            <a:pPr algn="l">
              <a:spcAft>
                <a:spcPts val="800"/>
              </a:spcAft>
            </a:pPr>
            <a:r>
              <a:rPr sz="1200" b="0">
                <a:solidFill>
                  <a:srgbClr val="1F2933"/>
                </a:solidFill>
                <a:latin typeface="Calibri"/>
              </a:rPr>
              <a:t>•  UNIQUE — slug, SKU, email</a:t>
            </a:r>
          </a:p>
          <a:p>
            <a:pPr algn="l">
              <a:spcAft>
                <a:spcPts val="800"/>
              </a:spcAft>
            </a:pPr>
            <a:r>
              <a:rPr sz="1200" b="0">
                <a:solidFill>
                  <a:srgbClr val="1F2933"/>
                </a:solidFill>
                <a:latin typeface="Calibri"/>
              </a:rPr>
              <a:t>•  CHECK — price &gt; 0, promo &lt; price, qty ≥ 0</a:t>
            </a:r>
          </a:p>
          <a:p>
            <a:pPr algn="l">
              <a:spcAft>
                <a:spcPts val="800"/>
              </a:spcAft>
            </a:pPr>
            <a:r>
              <a:rPr sz="1200" b="0">
                <a:solidFill>
                  <a:srgbClr val="1F2933"/>
                </a:solidFill>
                <a:latin typeface="Calibri"/>
              </a:rPr>
              <a:t>•  CHECK — статуси и методи (enum)</a:t>
            </a:r>
          </a:p>
          <a:p>
            <a:pPr algn="l">
              <a:spcAft>
                <a:spcPts val="800"/>
              </a:spcAft>
            </a:pPr>
            <a:r>
              <a:rPr sz="1200" b="0">
                <a:solidFill>
                  <a:srgbClr val="1F2933"/>
                </a:solidFill>
                <a:latin typeface="Calibri"/>
              </a:rPr>
              <a:t>•  CHECK — discount 0–100, дати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955279" y="5349240"/>
            <a:ext cx="3840480" cy="868680"/>
          </a:xfrm>
          <a:prstGeom prst="roundRect">
            <a:avLst/>
          </a:prstGeom>
          <a:solidFill>
            <a:srgbClr val="2E40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0"/>
              </a:spcAft>
            </a:pPr>
            <a:r>
              <a:rPr sz="1150" b="0">
                <a:solidFill>
                  <a:srgbClr val="FFFFFF"/>
                </a:solidFill>
                <a:latin typeface="Calibri"/>
              </a:rPr>
              <a:t>Целостта се пази на ниво база — не само в приложението.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2E40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048A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64592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048A81"/>
                </a:solidFill>
                <a:latin typeface="Calibri"/>
              </a:rPr>
              <a:t>ОРИГИНАЛНА ВЕРСИЯ</a:t>
            </a:r>
          </a:p>
          <a:p>
            <a:pPr algn="l">
              <a:spcAft>
                <a:spcPts val="600"/>
              </a:spcAft>
            </a:pPr>
            <a:r>
              <a:rPr sz="2800" b="1">
                <a:solidFill>
                  <a:srgbClr val="FFFFFF"/>
                </a:solidFill>
                <a:latin typeface="Calibri"/>
              </a:rPr>
              <a:t>Приложение за достъп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>
                <a:solidFill>
                  <a:srgbClr val="66707A"/>
                </a:solidFill>
                <a:latin typeface="Calibri"/>
              </a:rPr>
              <a:t>КОМСЕД  ·  Стас Узунов, 2MI0700362  ·  СУ „Св. Климент Охридски", ФМИ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38560" y="6400800"/>
            <a:ext cx="6400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spcAft>
                <a:spcPts val="600"/>
              </a:spcAft>
            </a:pPr>
            <a:r>
              <a:rPr sz="900" b="0">
                <a:solidFill>
                  <a:srgbClr val="66707A"/>
                </a:solidFill>
                <a:latin typeface="Calibri"/>
              </a:rPr>
              <a:t>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63040"/>
            <a:ext cx="67665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</a:pPr>
            <a:r>
              <a:rPr sz="1500" b="1">
                <a:solidFill>
                  <a:srgbClr val="1F2933"/>
                </a:solidFill>
                <a:latin typeface="Calibri"/>
              </a:rPr>
              <a:t>Уеб приложение върху университетския DB2 сървър.</a:t>
            </a:r>
          </a:p>
          <a:p>
            <a:pPr algn="l">
              <a:spcAft>
                <a:spcPts val="600"/>
              </a:spcAft>
            </a:pPr>
            <a:r>
              <a:rPr sz="1400" b="1">
                <a:solidFill>
                  <a:srgbClr val="2E4057"/>
                </a:solidFill>
                <a:latin typeface="Calibri"/>
              </a:rPr>
              <a:t>Технологии: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1F2933"/>
                </a:solidFill>
                <a:latin typeface="Calibri"/>
              </a:rPr>
              <a:t>•  Python + Flask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1F2933"/>
                </a:solidFill>
                <a:latin typeface="Calibri"/>
              </a:rPr>
              <a:t>•  ibm_db (връзка към DB2)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1F2933"/>
                </a:solidFill>
                <a:latin typeface="Calibri"/>
              </a:rPr>
              <a:t>•  Bootstrap 5 + Jinja2 шаблони</a:t>
            </a:r>
          </a:p>
          <a:p>
            <a:pPr algn="l">
              <a:spcAft>
                <a:spcPts val="600"/>
              </a:spcAft>
            </a:pPr>
            <a:r>
              <a:rPr sz="1400" b="1">
                <a:solidFill>
                  <a:srgbClr val="2E4057"/>
                </a:solidFill>
                <a:latin typeface="Calibri"/>
              </a:rPr>
              <a:t>Функционалност: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1F2933"/>
                </a:solidFill>
                <a:latin typeface="Calibri"/>
              </a:rPr>
              <a:t>•  Преглед/добавяне/изтриване на продукти и клиенти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1F2933"/>
                </a:solidFill>
                <a:latin typeface="Calibri"/>
              </a:rPr>
              <a:t>•  Списък и детайли на поръчки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1F2933"/>
                </a:solidFill>
                <a:latin typeface="Calibri"/>
              </a:rPr>
              <a:t>•  Категории и промоции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1F2933"/>
                </a:solidFill>
                <a:latin typeface="Calibri"/>
              </a:rPr>
              <a:t>•  Интерактивна SQL конзола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0" y="1554480"/>
            <a:ext cx="3840480" cy="1828800"/>
          </a:xfrm>
          <a:prstGeom prst="roundRect">
            <a:avLst/>
          </a:prstGeom>
          <a:solidFill>
            <a:srgbClr val="E6F4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2E4057"/>
                </a:solidFill>
                <a:latin typeface="Calibri"/>
              </a:rPr>
              <a:t>DB2 · схема FN2MI0700362</a:t>
            </a:r>
          </a:p>
          <a:p>
            <a:pPr algn="ctr">
              <a:spcAft>
                <a:spcPts val="600"/>
              </a:spcAft>
            </a:pPr>
            <a:r>
              <a:rPr sz="1200" b="0">
                <a:solidFill>
                  <a:srgbClr val="66707A"/>
                </a:solidFill>
                <a:latin typeface="Calibri"/>
              </a:rPr>
              <a:t>8 таблици · client-server
архитектура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2E40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048A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64592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048A81"/>
                </a:solidFill>
                <a:latin typeface="Calibri"/>
              </a:rPr>
              <a:t>ХОСТВАЕМА РЕИМПЛЕМЕНТАЦИЯ</a:t>
            </a:r>
          </a:p>
          <a:p>
            <a:pPr algn="l">
              <a:spcAft>
                <a:spcPts val="600"/>
              </a:spcAft>
            </a:pPr>
            <a:r>
              <a:rPr sz="2800" b="1">
                <a:solidFill>
                  <a:srgbClr val="FFFFFF"/>
                </a:solidFill>
                <a:latin typeface="Calibri"/>
              </a:rPr>
              <a:t>Production версия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>
                <a:solidFill>
                  <a:srgbClr val="66707A"/>
                </a:solidFill>
                <a:latin typeface="Calibri"/>
              </a:rPr>
              <a:t>КОМСЕД  ·  Стас Узунов, 2MI0700362  ·  СУ „Св. Климент Охридски", ФМИ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38560" y="6400800"/>
            <a:ext cx="6400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spcAft>
                <a:spcPts val="600"/>
              </a:spcAft>
            </a:pPr>
            <a:r>
              <a:rPr sz="900" b="0">
                <a:solidFill>
                  <a:srgbClr val="66707A"/>
                </a:solidFill>
                <a:latin typeface="Calibri"/>
              </a:rPr>
              <a:t>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63040"/>
            <a:ext cx="67665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</a:pPr>
            <a:r>
              <a:rPr sz="1500" b="1">
                <a:solidFill>
                  <a:srgbClr val="1F2933"/>
                </a:solidFill>
                <a:latin typeface="Calibri"/>
              </a:rPr>
              <a:t>Същият модел на данните, но готов за реален хостинг.</a:t>
            </a:r>
          </a:p>
          <a:p>
            <a:pPr algn="l">
              <a:spcAft>
                <a:spcPts val="600"/>
              </a:spcAft>
            </a:pPr>
            <a:r>
              <a:rPr sz="1400" b="1">
                <a:solidFill>
                  <a:srgbClr val="2E4057"/>
                </a:solidFill>
                <a:latin typeface="Calibri"/>
              </a:rPr>
              <a:t>Технологичен стек: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1F2933"/>
                </a:solidFill>
                <a:latin typeface="Calibri"/>
              </a:rPr>
              <a:t>•  Next.js 16 (App Router) + React 19 + TypeScript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1F2933"/>
                </a:solidFill>
                <a:latin typeface="Calibri"/>
              </a:rPr>
              <a:t>•  Tailwind CSS v4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1F2933"/>
                </a:solidFill>
                <a:latin typeface="Calibri"/>
              </a:rPr>
              <a:t>•  Neon — serverless PostgreSQL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1F2933"/>
                </a:solidFill>
                <a:latin typeface="Calibri"/>
              </a:rPr>
              <a:t>•  Vercel — хостинг с auto-deploy</a:t>
            </a:r>
          </a:p>
          <a:p>
            <a:pPr algn="l">
              <a:spcAft>
                <a:spcPts val="600"/>
              </a:spcAft>
            </a:pPr>
            <a:r>
              <a:rPr sz="1400" b="1">
                <a:solidFill>
                  <a:srgbClr val="2E4057"/>
                </a:solidFill>
                <a:latin typeface="Calibri"/>
              </a:rPr>
              <a:t>Архитектура: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1F2933"/>
                </a:solidFill>
                <a:latin typeface="Calibri"/>
              </a:rPr>
              <a:t>•  Server Components — четене директно от базата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1F2933"/>
                </a:solidFill>
                <a:latin typeface="Calibri"/>
              </a:rPr>
              <a:t>•  Server Actions — CRUD със запис в базата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1F2933"/>
                </a:solidFill>
                <a:latin typeface="Calibri"/>
              </a:rPr>
              <a:t>•  SQL конзола — само SELECT, защита от injection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5120640"/>
            <a:ext cx="1554480" cy="640080"/>
          </a:xfrm>
          <a:prstGeom prst="roundRect">
            <a:avLst/>
          </a:prstGeom>
          <a:solidFill>
            <a:srgbClr val="048A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Next.js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77440" y="5120640"/>
            <a:ext cx="4572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600"/>
              </a:spcAft>
            </a:pPr>
            <a:r>
              <a:rPr sz="2000" b="0">
                <a:solidFill>
                  <a:srgbClr val="66707A"/>
                </a:solidFill>
                <a:latin typeface="Calibri"/>
              </a:rPr>
              <a:t>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926080" y="5120640"/>
            <a:ext cx="1554480" cy="640080"/>
          </a:xfrm>
          <a:prstGeom prst="roundRect">
            <a:avLst/>
          </a:prstGeom>
          <a:solidFill>
            <a:srgbClr val="2E40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Neon PG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5120640"/>
            <a:ext cx="4572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600"/>
              </a:spcAft>
            </a:pPr>
            <a:r>
              <a:rPr sz="2000" b="0">
                <a:solidFill>
                  <a:srgbClr val="66707A"/>
                </a:solidFill>
                <a:latin typeface="Calibri"/>
              </a:rP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120640" y="5120640"/>
            <a:ext cx="1554480" cy="640080"/>
          </a:xfrm>
          <a:prstGeom prst="roundRect">
            <a:avLst/>
          </a:prstGeom>
          <a:solidFill>
            <a:srgbClr val="048A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Vercel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2E40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048A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64592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048A81"/>
                </a:solidFill>
                <a:latin typeface="Calibri"/>
              </a:rPr>
              <a:t>ЕКРАННА СНИМКА</a:t>
            </a:r>
          </a:p>
          <a:p>
            <a:pPr algn="l">
              <a:spcAft>
                <a:spcPts val="600"/>
              </a:spcAft>
            </a:pPr>
            <a:r>
              <a:rPr sz="2800" b="1">
                <a:solidFill>
                  <a:srgbClr val="FFFFFF"/>
                </a:solidFill>
                <a:latin typeface="Calibri"/>
              </a:rPr>
              <a:t>Начален панел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>
                <a:solidFill>
                  <a:srgbClr val="66707A"/>
                </a:solidFill>
                <a:latin typeface="Calibri"/>
              </a:rPr>
              <a:t>КОМСЕД  ·  Стас Узунов, 2MI0700362  ·  СУ „Св. Климент Охридски", ФМИ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38560" y="6400800"/>
            <a:ext cx="6400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spcAft>
                <a:spcPts val="600"/>
              </a:spcAft>
            </a:pPr>
            <a:r>
              <a:rPr sz="900" b="0">
                <a:solidFill>
                  <a:srgbClr val="66707A"/>
                </a:solidFill>
                <a:latin typeface="Calibri"/>
              </a:rPr>
              <a:t>9</a:t>
            </a:r>
          </a:p>
        </p:txBody>
      </p:sp>
      <p:sp>
        <p:nvSpPr>
          <p:cNvPr id="8" name="Rectangle 7"/>
          <p:cNvSpPr/>
          <p:nvPr/>
        </p:nvSpPr>
        <p:spPr>
          <a:xfrm>
            <a:off x="3589694" y="1362075"/>
            <a:ext cx="4982131" cy="4499610"/>
          </a:xfrm>
          <a:prstGeom prst="rect">
            <a:avLst/>
          </a:prstGeom>
          <a:noFill/>
          <a:ln w="12700"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hom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99219" y="1371600"/>
            <a:ext cx="4963081" cy="448056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48640" y="5943600"/>
            <a:ext cx="11064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200" b="0">
                <a:solidFill>
                  <a:srgbClr val="66707A"/>
                </a:solidFill>
                <a:latin typeface="Calibri"/>
              </a:rPr>
              <a:t>Обобщена статистика — реални COUNT заявки към базата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2E40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048A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64592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048A81"/>
                </a:solidFill>
                <a:latin typeface="Calibri"/>
              </a:rPr>
              <a:t>ЕКРАННА СНИМКА</a:t>
            </a:r>
          </a:p>
          <a:p>
            <a:pPr algn="l">
              <a:spcAft>
                <a:spcPts val="600"/>
              </a:spcAft>
            </a:pPr>
            <a:r>
              <a:rPr sz="2800" b="1">
                <a:solidFill>
                  <a:srgbClr val="FFFFFF"/>
                </a:solidFill>
                <a:latin typeface="Calibri"/>
              </a:rPr>
              <a:t>Продукти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>
                <a:solidFill>
                  <a:srgbClr val="66707A"/>
                </a:solidFill>
                <a:latin typeface="Calibri"/>
              </a:rPr>
              <a:t>КОМСЕД  ·  Стас Узунов, 2MI0700362  ·  СУ „Св. Климент Охридски", ФМИ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38560" y="6400800"/>
            <a:ext cx="6400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spcAft>
                <a:spcPts val="600"/>
              </a:spcAft>
            </a:pPr>
            <a:r>
              <a:rPr sz="900" b="0">
                <a:solidFill>
                  <a:srgbClr val="66707A"/>
                </a:solidFill>
                <a:latin typeface="Calibri"/>
              </a:rPr>
              <a:t>10</a:t>
            </a:r>
          </a:p>
        </p:txBody>
      </p:sp>
      <p:sp>
        <p:nvSpPr>
          <p:cNvPr id="8" name="Rectangle 7"/>
          <p:cNvSpPr/>
          <p:nvPr/>
        </p:nvSpPr>
        <p:spPr>
          <a:xfrm>
            <a:off x="3589694" y="1362075"/>
            <a:ext cx="4982131" cy="4499610"/>
          </a:xfrm>
          <a:prstGeom prst="rect">
            <a:avLst/>
          </a:prstGeom>
          <a:noFill/>
          <a:ln w="12700"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produc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99219" y="1371600"/>
            <a:ext cx="4963081" cy="448056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48640" y="5943600"/>
            <a:ext cx="11064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200" b="0">
                <a:solidFill>
                  <a:srgbClr val="66707A"/>
                </a:solidFill>
                <a:latin typeface="Calibri"/>
              </a:rPr>
              <a:t>Каталог с цени, промо, наличност · добавяне и изтриване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2E40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048A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64592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048A81"/>
                </a:solidFill>
                <a:latin typeface="Calibri"/>
              </a:rPr>
              <a:t>ЕКРАННА СНИМКА</a:t>
            </a:r>
          </a:p>
          <a:p>
            <a:pPr algn="l">
              <a:spcAft>
                <a:spcPts val="600"/>
              </a:spcAft>
            </a:pPr>
            <a:r>
              <a:rPr sz="2800" b="1">
                <a:solidFill>
                  <a:srgbClr val="FFFFFF"/>
                </a:solidFill>
                <a:latin typeface="Calibri"/>
              </a:rPr>
              <a:t>Детайл на поръчка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>
                <a:solidFill>
                  <a:srgbClr val="66707A"/>
                </a:solidFill>
                <a:latin typeface="Calibri"/>
              </a:rPr>
              <a:t>КОМСЕД  ·  Стас Узунов, 2MI0700362  ·  СУ „Св. Климент Охридски", ФМИ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38560" y="6400800"/>
            <a:ext cx="6400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spcAft>
                <a:spcPts val="600"/>
              </a:spcAft>
            </a:pPr>
            <a:r>
              <a:rPr sz="900" b="0">
                <a:solidFill>
                  <a:srgbClr val="66707A"/>
                </a:solidFill>
                <a:latin typeface="Calibri"/>
              </a:rPr>
              <a:t>11</a:t>
            </a:r>
          </a:p>
        </p:txBody>
      </p:sp>
      <p:sp>
        <p:nvSpPr>
          <p:cNvPr id="8" name="Rectangle 7"/>
          <p:cNvSpPr/>
          <p:nvPr/>
        </p:nvSpPr>
        <p:spPr>
          <a:xfrm>
            <a:off x="3589694" y="1362075"/>
            <a:ext cx="4982131" cy="4499610"/>
          </a:xfrm>
          <a:prstGeom prst="rect">
            <a:avLst/>
          </a:prstGeom>
          <a:noFill/>
          <a:ln w="12700"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order_detai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99219" y="1371600"/>
            <a:ext cx="4963081" cy="448056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48640" y="5943600"/>
            <a:ext cx="11064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200" b="0">
                <a:solidFill>
                  <a:srgbClr val="66707A"/>
                </a:solidFill>
                <a:latin typeface="Calibri"/>
              </a:rPr>
              <a:t>JOIN между ORDERS, CUSTOMER, ORDER_ITEM и PRODUCT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2E40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048A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64592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048A81"/>
                </a:solidFill>
                <a:latin typeface="Calibri"/>
              </a:rPr>
              <a:t>ЕКРАННА СНИМКА</a:t>
            </a:r>
          </a:p>
          <a:p>
            <a:pPr algn="l">
              <a:spcAft>
                <a:spcPts val="600"/>
              </a:spcAft>
            </a:pPr>
            <a:r>
              <a:rPr sz="2800" b="1">
                <a:solidFill>
                  <a:srgbClr val="FFFFFF"/>
                </a:solidFill>
                <a:latin typeface="Calibri"/>
              </a:rPr>
              <a:t>SQL конзола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>
                <a:solidFill>
                  <a:srgbClr val="66707A"/>
                </a:solidFill>
                <a:latin typeface="Calibri"/>
              </a:rPr>
              <a:t>КОМСЕД  ·  Стас Узунов, 2MI0700362  ·  СУ „Св. Климент Охридски", ФМИ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38560" y="6400800"/>
            <a:ext cx="6400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spcAft>
                <a:spcPts val="600"/>
              </a:spcAft>
            </a:pPr>
            <a:r>
              <a:rPr sz="900" b="0">
                <a:solidFill>
                  <a:srgbClr val="66707A"/>
                </a:solidFill>
                <a:latin typeface="Calibri"/>
              </a:rPr>
              <a:t>12</a:t>
            </a:r>
          </a:p>
        </p:txBody>
      </p:sp>
      <p:sp>
        <p:nvSpPr>
          <p:cNvPr id="8" name="Rectangle 7"/>
          <p:cNvSpPr/>
          <p:nvPr/>
        </p:nvSpPr>
        <p:spPr>
          <a:xfrm>
            <a:off x="3589694" y="1362075"/>
            <a:ext cx="4982131" cy="4499610"/>
          </a:xfrm>
          <a:prstGeom prst="rect">
            <a:avLst/>
          </a:prstGeom>
          <a:noFill/>
          <a:ln w="12700"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sq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99219" y="1371600"/>
            <a:ext cx="4963081" cy="448056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48640" y="5943600"/>
            <a:ext cx="11064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200" b="0">
                <a:solidFill>
                  <a:srgbClr val="66707A"/>
                </a:solidFill>
                <a:latin typeface="Calibri"/>
              </a:rPr>
              <a:t>Изпълнение на реални SELECT заявки срещу базата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2E40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048A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64592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048A81"/>
                </a:solidFill>
                <a:latin typeface="Calibri"/>
              </a:rPr>
              <a:t>АНАЛИТИЧНИ СПРАВКИ</a:t>
            </a:r>
          </a:p>
          <a:p>
            <a:pPr algn="l">
              <a:spcAft>
                <a:spcPts val="600"/>
              </a:spcAft>
            </a:pPr>
            <a:r>
              <a:rPr sz="2800" b="1">
                <a:solidFill>
                  <a:srgbClr val="FFFFFF"/>
                </a:solidFill>
                <a:latin typeface="Calibri"/>
              </a:rPr>
              <a:t>Примерни SQL заявки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>
                <a:solidFill>
                  <a:srgbClr val="66707A"/>
                </a:solidFill>
                <a:latin typeface="Calibri"/>
              </a:rPr>
              <a:t>КОМСЕД  ·  Стас Узунов, 2MI0700362  ·  СУ „Св. Климент Охридски", ФМИ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38560" y="6400800"/>
            <a:ext cx="6400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spcAft>
                <a:spcPts val="600"/>
              </a:spcAft>
            </a:pPr>
            <a:r>
              <a:rPr sz="900" b="0">
                <a:solidFill>
                  <a:srgbClr val="66707A"/>
                </a:solidFill>
                <a:latin typeface="Calibri"/>
              </a:rPr>
              <a:t>13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55448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</a:pPr>
            <a:r>
              <a:rPr sz="1600" b="1">
                <a:solidFill>
                  <a:srgbClr val="048A81"/>
                </a:solidFill>
                <a:latin typeface="Calibri"/>
              </a:rPr>
              <a:t>1.  </a:t>
            </a:r>
            <a:r>
              <a:rPr sz="1600" b="0">
                <a:solidFill>
                  <a:srgbClr val="1F2933"/>
                </a:solidFill>
                <a:latin typeface="Calibri"/>
              </a:rPr>
              <a:t>Активни продукти с промо цена, сортирани по % намаление</a:t>
            </a:r>
          </a:p>
          <a:p>
            <a:pPr>
              <a:spcAft>
                <a:spcPts val="1300"/>
              </a:spcAft>
            </a:pPr>
            <a:r>
              <a:rPr sz="1600" b="1">
                <a:solidFill>
                  <a:srgbClr val="048A81"/>
                </a:solidFill>
                <a:latin typeface="Calibri"/>
              </a:rPr>
              <a:t>2.  </a:t>
            </a:r>
            <a:r>
              <a:rPr sz="1600" b="0">
                <a:solidFill>
                  <a:srgbClr val="1F2933"/>
                </a:solidFill>
                <a:latin typeface="Calibri"/>
              </a:rPr>
              <a:t>Брой продукти по категория (мин. 2) с родителска категория</a:t>
            </a:r>
          </a:p>
          <a:p>
            <a:pPr>
              <a:spcAft>
                <a:spcPts val="1300"/>
              </a:spcAft>
            </a:pPr>
            <a:r>
              <a:rPr sz="1600" b="1">
                <a:solidFill>
                  <a:srgbClr val="048A81"/>
                </a:solidFill>
                <a:latin typeface="Calibri"/>
              </a:rPr>
              <a:t>3.  </a:t>
            </a:r>
            <a:r>
              <a:rPr sz="1600" b="0">
                <a:solidFill>
                  <a:srgbClr val="1F2933"/>
                </a:solidFill>
                <a:latin typeface="Calibri"/>
              </a:rPr>
              <a:t>Топ 3 клиенти по обща стойност на доставени поръчки</a:t>
            </a:r>
          </a:p>
          <a:p>
            <a:pPr>
              <a:spcAft>
                <a:spcPts val="1300"/>
              </a:spcAft>
            </a:pPr>
            <a:r>
              <a:rPr sz="1600" b="1">
                <a:solidFill>
                  <a:srgbClr val="048A81"/>
                </a:solidFill>
                <a:latin typeface="Calibri"/>
              </a:rPr>
              <a:t>4.  </a:t>
            </a:r>
            <a:r>
              <a:rPr sz="1600" b="0">
                <a:solidFill>
                  <a:srgbClr val="1F2933"/>
                </a:solidFill>
                <a:latin typeface="Calibri"/>
              </a:rPr>
              <a:t>Детайли на поръчки с брой артикули (JOIN + GROUP BY)</a:t>
            </a:r>
          </a:p>
          <a:p>
            <a:pPr>
              <a:spcAft>
                <a:spcPts val="1300"/>
              </a:spcAft>
            </a:pPr>
            <a:r>
              <a:rPr sz="1600" b="1">
                <a:solidFill>
                  <a:srgbClr val="048A81"/>
                </a:solidFill>
                <a:latin typeface="Calibri"/>
              </a:rPr>
              <a:t>5.  </a:t>
            </a:r>
            <a:r>
              <a:rPr sz="1600" b="0">
                <a:solidFill>
                  <a:srgbClr val="1F2933"/>
                </a:solidFill>
                <a:latin typeface="Calibri"/>
              </a:rPr>
              <a:t>Продукти в активна промоция с изчислена цена</a:t>
            </a:r>
          </a:p>
          <a:p>
            <a:pPr>
              <a:spcAft>
                <a:spcPts val="1300"/>
              </a:spcAft>
            </a:pPr>
            <a:r>
              <a:rPr sz="1600" b="1">
                <a:solidFill>
                  <a:srgbClr val="048A81"/>
                </a:solidFill>
                <a:latin typeface="Calibri"/>
              </a:rPr>
              <a:t>6.  </a:t>
            </a:r>
            <a:r>
              <a:rPr sz="1600" b="0">
                <a:solidFill>
                  <a:srgbClr val="1F2933"/>
                </a:solidFill>
                <a:latin typeface="Calibri"/>
              </a:rPr>
              <a:t>Продукти, които никога не са били поръчвани (подзаявка NOT IN)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2E40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048A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64592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048A81"/>
                </a:solidFill>
                <a:latin typeface="Calibri"/>
              </a:rPr>
              <a:t>РЕАЛНИ ДАННИ</a:t>
            </a:r>
          </a:p>
          <a:p>
            <a:pPr algn="l">
              <a:spcAft>
                <a:spcPts val="600"/>
              </a:spcAft>
            </a:pPr>
            <a:r>
              <a:rPr sz="2800" b="1">
                <a:solidFill>
                  <a:srgbClr val="FFFFFF"/>
                </a:solidFill>
                <a:latin typeface="Calibri"/>
              </a:rPr>
              <a:t>Резултати от заявките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>
                <a:solidFill>
                  <a:srgbClr val="66707A"/>
                </a:solidFill>
                <a:latin typeface="Calibri"/>
              </a:rPr>
              <a:t>КОМСЕД  ·  Стас Узунов, 2MI0700362  ·  СУ „Св. Климент Охридски", ФМИ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38560" y="6400800"/>
            <a:ext cx="6400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spcAft>
                <a:spcPts val="600"/>
              </a:spcAft>
            </a:pPr>
            <a:r>
              <a:rPr sz="900" b="0">
                <a:solidFill>
                  <a:srgbClr val="66707A"/>
                </a:solidFill>
                <a:latin typeface="Calibri"/>
              </a:rPr>
              <a:t>14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28016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2E4057"/>
                </a:solidFill>
                <a:latin typeface="Calibri"/>
              </a:rPr>
              <a:t>Топ клиенти (доставени поръчки)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40080" y="1737360"/>
          <a:ext cx="5120640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60320"/>
                <a:gridCol w="2560320"/>
              </a:tblGrid>
              <a:tr h="48768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Клиент</a:t>
                      </a:r>
                    </a:p>
                  </a:txBody>
                  <a:tcPr>
                    <a:solidFill>
                      <a:srgbClr val="2E405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Похарчено</a:t>
                      </a:r>
                    </a:p>
                  </a:txBody>
                  <a:tcPr>
                    <a:solidFill>
                      <a:srgbClr val="2E4057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3"/>
                          </a:solidFill>
                        </a:rPr>
                        <a:t>Петър Николов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3"/>
                          </a:solidFill>
                        </a:rPr>
                        <a:t>324.89 лв.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3"/>
                          </a:solidFill>
                        </a:rPr>
                        <a:t>Иван Петров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3"/>
                          </a:solidFill>
                        </a:rPr>
                        <a:t>89.98 лв.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309360" y="128016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2E4057"/>
                </a:solidFill>
                <a:latin typeface="Calibri"/>
              </a:rPr>
              <a:t>Продукти с промо цена (по % намаление)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6309360" y="1737360"/>
          <a:ext cx="5212080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06040"/>
                <a:gridCol w="2606040"/>
              </a:tblGrid>
              <a:tr h="475488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Продукт</a:t>
                      </a:r>
                    </a:p>
                  </a:txBody>
                  <a:tcPr>
                    <a:solidFill>
                      <a:srgbClr val="2E405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Намаление</a:t>
                      </a:r>
                    </a:p>
                  </a:txBody>
                  <a:tcPr>
                    <a:solidFill>
                      <a:srgbClr val="2E4057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3"/>
                          </a:solidFill>
                        </a:rPr>
                        <a:t>Chicco Polly столче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3"/>
                          </a:solidFill>
                        </a:rPr>
                        <a:t>20.1%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3"/>
                          </a:solidFill>
                        </a:rPr>
                        <a:t>LEGO City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3"/>
                          </a:solidFill>
                        </a:rPr>
                        <a:t>20.0%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3"/>
                          </a:solidFill>
                        </a:rPr>
                        <a:t>Fisher-Price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3"/>
                          </a:solidFill>
                        </a:rPr>
                        <a:t>16.7%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3"/>
                          </a:solidFill>
                        </a:rPr>
                        <a:t>Playmobil Пиратски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3"/>
                          </a:solidFill>
                        </a:rPr>
                        <a:t>16.7%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640080" y="4480560"/>
            <a:ext cx="108813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66707A"/>
                </a:solidFill>
                <a:latin typeface="Calibri"/>
              </a:rPr>
              <a:t>Непоръчвани продукти: Hot Wheels Track Builder (15 бр.), smarTrike STR5 (3 бр.)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2E40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048A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64592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FFFFFF"/>
                </a:solidFill>
                <a:latin typeface="Calibri"/>
              </a:rPr>
              <a:t>Заключение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>
                <a:solidFill>
                  <a:srgbClr val="66707A"/>
                </a:solidFill>
                <a:latin typeface="Calibri"/>
              </a:rPr>
              <a:t>КОМСЕД  ·  Стас Узунов, 2MI0700362  ·  СУ „Св. Климент Охридски", ФМИ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38560" y="6400800"/>
            <a:ext cx="6400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spcAft>
                <a:spcPts val="600"/>
              </a:spcAft>
            </a:pPr>
            <a:r>
              <a:rPr sz="900" b="0">
                <a:solidFill>
                  <a:srgbClr val="66707A"/>
                </a:solidFill>
                <a:latin typeface="Calibri"/>
              </a:rPr>
              <a:t>15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554480"/>
            <a:ext cx="104241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600" b="1">
                <a:solidFill>
                  <a:srgbClr val="2E4057"/>
                </a:solidFill>
                <a:latin typeface="Calibri"/>
              </a:rPr>
              <a:t>Постигнато:</a:t>
            </a:r>
          </a:p>
          <a:p>
            <a:pPr algn="l">
              <a:spcAft>
                <a:spcPts val="900"/>
              </a:spcAft>
            </a:pPr>
            <a:r>
              <a:rPr sz="1500" b="0">
                <a:solidFill>
                  <a:srgbClr val="1F2933"/>
                </a:solidFill>
                <a:latin typeface="Calibri"/>
              </a:rPr>
              <a:t>•  Пълен релационен модел с 8 таблици и интегритетни ограничения</a:t>
            </a:r>
          </a:p>
          <a:p>
            <a:pPr algn="l">
              <a:spcAft>
                <a:spcPts val="900"/>
              </a:spcAft>
            </a:pPr>
            <a:r>
              <a:rPr sz="1500" b="0">
                <a:solidFill>
                  <a:srgbClr val="1F2933"/>
                </a:solidFill>
                <a:latin typeface="Calibri"/>
              </a:rPr>
              <a:t>•  Имплементирана база (DB2) с примерни данни</a:t>
            </a:r>
          </a:p>
          <a:p>
            <a:pPr algn="l">
              <a:spcAft>
                <a:spcPts val="900"/>
              </a:spcAft>
            </a:pPr>
            <a:r>
              <a:rPr sz="1500" b="0">
                <a:solidFill>
                  <a:srgbClr val="1F2933"/>
                </a:solidFill>
                <a:latin typeface="Calibri"/>
              </a:rPr>
              <a:t>•  Аналитични SQL заявки с JOIN, GROUP BY, подзаявки</a:t>
            </a:r>
          </a:p>
          <a:p>
            <a:pPr algn="l">
              <a:spcAft>
                <a:spcPts val="900"/>
              </a:spcAft>
            </a:pPr>
            <a:r>
              <a:rPr sz="1500" b="0">
                <a:solidFill>
                  <a:srgbClr val="1F2933"/>
                </a:solidFill>
                <a:latin typeface="Calibri"/>
              </a:rPr>
              <a:t>•  Две уеб приложения: учебно (Flask + DB2) и production (Next.js + Neon + Vercel)</a:t>
            </a:r>
          </a:p>
          <a:p>
            <a:pPr algn="l">
              <a:spcAft>
                <a:spcPts val="900"/>
              </a:spcAft>
            </a:pPr>
            <a:r>
              <a:rPr sz="1500" b="0">
                <a:solidFill>
                  <a:srgbClr val="1F2933"/>
                </a:solidFill>
                <a:latin typeface="Calibri"/>
              </a:rPr>
              <a:t>•  Работещ хостваем сайт с реален CRUD и SQL конзола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5486400"/>
            <a:ext cx="10424160" cy="731520"/>
          </a:xfrm>
          <a:prstGeom prst="roundRect">
            <a:avLst/>
          </a:prstGeom>
          <a:solidFill>
            <a:srgbClr val="048A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600"/>
              </a:spcAft>
            </a:pPr>
            <a:r>
              <a:rPr sz="1800" b="1">
                <a:solidFill>
                  <a:srgbClr val="FFFFFF"/>
                </a:solidFill>
                <a:latin typeface="Calibri"/>
              </a:rPr>
              <a:t>Благодаря за вниманието!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